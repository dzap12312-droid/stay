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청소 투입 직전 현장에서 5분. 출력물 또는 태블릿으로 진행. 날짜·진행자·참석인원을 먼저 적고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가지를 손가락으로 세면서 짚어준다. 매주 같은 문장으로 반복하는 것이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숨기면 본인 책임이 아니라 전 라인 회수 사고가 된다는 점을 짚는다. 신고는 불이익이 아니라 절차임을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세제 혼합 금지는 실제 가스 사고 사례로 설명. 젖은 바닥 미끄러짐과 롤러 돌발 기동도 매주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한 줄은 매주 같은 문장으로 다같이 읽고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1주차에는 진행자가 6단계를 직접 한 번 실연한다. 말로만 하면 손톱·손목이 빠진다.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희석 농도표와 MSDS 위치를 실제로 손으로 가리켜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도구함을 실제로 열어 색 구분 상태를 함께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9단계 중 ⑨(이물 점검 · 금속검출기 감도 확인)를 빠뜨리는 경우가 많다. 재가동 책임자 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구역 배정 후 해당 칸만 짚어 읽어준다. 전체를 매주 다 읽지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진행자 전용. 현장 출력물에서는 이 장을 빼고 1~5장만 인쇄해도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28600"/>
            <a:ext cx="6035040" cy="6035040"/>
          </a:xfrm>
          <a:prstGeom prst="ellipse">
            <a:avLst/>
          </a:prstGeom>
          <a:solidFill>
            <a:srgbClr val="1A2B3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143000"/>
            <a:ext cx="4206240" cy="4206240"/>
          </a:xfrm>
          <a:prstGeom prst="ellipse">
            <a:avLst/>
          </a:prstGeom>
          <a:solidFill>
            <a:srgbClr val="24394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874520"/>
            <a:ext cx="2743200" cy="2743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Shape 3"/>
          <p:cNvSpPr/>
          <p:nvPr/>
        </p:nvSpPr>
        <p:spPr>
          <a:xfrm>
            <a:off x="10314432" y="2679192"/>
            <a:ext cx="1133856" cy="11338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896" y="2962656"/>
            <a:ext cx="566928" cy="566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반복 위생교육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529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라면공장 주말청소 · 시작 전 5분 브리핑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지킬 것은 딱 3가지입니다.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4297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       .        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8892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35224" y="4297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84064" y="4297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0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위생관리팀 · 생산팀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꼭 지킬 3가지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1790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3가지만 지켜도 청소로 인한 이물·오염 사고는 대부분 막을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875178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24128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98" y="2887218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376732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깨끗이 씻기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431596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거품으로 30초 이상,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헹구고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말린 뒤 투입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83938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19037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4767986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156" y="288721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67986" y="376732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머리카락 단정히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767986" y="431596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머리는 묶어서 노출 없이,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중 손으로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머리·얼굴 만지지 않기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127797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10362895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8511845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015" y="2887218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11845" y="3767328"/>
            <a:ext cx="2692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이물 흘리지 않기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8511845" y="431596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장갑 조각, 걸레·수세미 조각,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공구, 개인물품이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라인에 남지 않게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개인위생 체크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1790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투입 전, 본인 상태를 스스로 확인합니다.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5973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" y="2590038"/>
            <a:ext cx="260604" cy="2606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04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손씻기 완료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세정 후 건조까지 — 장갑은 씻은 손에 착용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41985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" y="3550158"/>
            <a:ext cx="260604" cy="2606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3649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상처는 방수밴드 + 장갑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손·팔에 상처가 있으면 반드시 덮고 작업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37997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4" y="4510278"/>
            <a:ext cx="260604" cy="2606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325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액세서리·인조손톱 금지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반지·시계·귀걸이·네일 — 탈의실에 보관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16636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534009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" y="5470398"/>
            <a:ext cx="260604" cy="26060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5285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비우기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5605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휴대폰·볼펜·사탕 등 개인물품 반입 금지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12280" y="2286000"/>
            <a:ext cx="4736592" cy="3703320"/>
          </a:xfrm>
          <a:prstGeom prst="roundRect">
            <a:avLst>
              <a:gd name="adj" fmla="val 2469"/>
            </a:avLst>
          </a:prstGeom>
          <a:solidFill>
            <a:srgbClr val="13232F"/>
          </a:solidFill>
          <a:ln/>
          <a:effectLst>
            <a:outerShdw sx="100000" sy="100000" kx="0" ky="0" algn="bl" rotWithShape="0" blurRad="228600" dist="25400" dir="5400000">
              <a:srgbClr val="13232F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96328" y="2606040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77063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96328" y="343814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즉시 신고</a:t>
            </a:r>
            <a:endParaRPr lang="en-US" sz="2100" dirty="0"/>
          </a:p>
        </p:txBody>
      </p:sp>
      <p:sp>
        <p:nvSpPr>
          <p:cNvPr id="29" name="Text 22"/>
          <p:cNvSpPr txBox="1"/>
          <p:nvPr/>
        </p:nvSpPr>
        <p:spPr>
          <a:xfrm>
            <a:off x="7196328" y="384048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또는 같이 사는 가족이 아래 증상이면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시작 전 담당자에게 알립니다.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196328" y="452628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196328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설사 · 복통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9208008" y="452628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208008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발열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196328" y="5093208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196328" y="5093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구토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9208008" y="5093208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208008" y="5093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화농성 상처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7196328" y="559612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확인 후 당일 청소작업에서 제외됩니다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시 주의사항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1790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세제 · 순서 · 도구 · 안전 — 네 가지 축으로 기억합니다.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51176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883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60604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 세제만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15468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세제를 정해진 농도로.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임의 교체·추가 금지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938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6546" y="2551176"/>
            <a:ext cx="548640" cy="548640"/>
          </a:xfrm>
          <a:prstGeom prst="ellipse">
            <a:avLst/>
          </a:prstGeom>
          <a:solidFill>
            <a:srgbClr val="BF3A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26883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260604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섞지 않기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76546" y="315468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염소계 + 산성 = 유해가스 발생.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가지만 사용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27797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0405" y="2551176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565" y="26883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87917" y="260604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취식 · 흡연 금지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20405" y="315468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껌 · 사탕 · 음료 포함.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 장소에서만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" y="4517136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6542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57200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순서대로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32688" y="512064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→ 아래, 청결 → 오염,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배수구는 맨 마지막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83938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76546" y="4517136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706" y="465429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4058" y="457200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색 구분대로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676546" y="512064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배수구용 도구를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설비·바닥에 쓰지 않기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27797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0405" y="4517136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565" y="465429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87917" y="4572000"/>
            <a:ext cx="2189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전원차단 · 고온주의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420405" y="5120640"/>
            <a:ext cx="28386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설비는 전원 차단 후,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유탕기·증숙기는 식은 뒤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663440"/>
            <a:ext cx="4023360" cy="4023360"/>
          </a:xfrm>
          <a:prstGeom prst="ellipse">
            <a:avLst/>
          </a:prstGeom>
          <a:solidFill>
            <a:srgbClr val="1A2B36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5349240"/>
            <a:ext cx="2651760" cy="2651760"/>
          </a:xfrm>
          <a:prstGeom prst="ellipse">
            <a:avLst/>
          </a:prstGeom>
          <a:solidFill>
            <a:srgbClr val="223440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" y="5943600"/>
            <a:ext cx="1463040" cy="1463040"/>
          </a:xfrm>
          <a:prstGeom prst="ellipse">
            <a:avLst/>
          </a:prstGeom>
          <a:solidFill>
            <a:srgbClr val="2B3F4D"/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960120"/>
            <a:ext cx="822960" cy="822960"/>
          </a:xfrm>
          <a:prstGeom prst="ellipse">
            <a:avLst/>
          </a:prstGeom>
          <a:solidFill>
            <a:srgbClr val="2133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108" y="11658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8308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2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마음가짐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만드는 라면,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가족이 먹는다는 마음으로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157276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7276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깨끗이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3600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600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 단정히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9924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이물 ZERO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44068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A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담당구역 확인 → 도구 점검 → 청소 시작 · 종료 후 같은 자리에서 마무리 점검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1주차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손씻기 6단계 · 30초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단계당 5초씩. 빠뜨리기 쉬운 곳이 손톱 끝과 손목입니다.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9983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9983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대고 비비기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9149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9052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29052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562301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562301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손등과 손가락 문지르기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8218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8121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78121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411370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 사이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11370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깍지 끼고 비비기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7288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7190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7190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260440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260440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돌려주기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36357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76259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76259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109509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손톱 · 손끝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109509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손바닥에 긁듯이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85426" y="2240280"/>
            <a:ext cx="1666189" cy="205740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325329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325329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958578" y="3401568"/>
            <a:ext cx="1519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손목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958578" y="3694176"/>
            <a:ext cx="15198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잊지 말고 감싸 비비기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2628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13232F"/>
          </a:solidFill>
          <a:ln/>
          <a:effectLst>
            <a:outerShdw sx="100000" sy="100000" kx="0" ky="0" algn="bl" rotWithShape="0" blurRad="228600" dist="25400" dir="5400000">
              <a:srgbClr val="13232F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5840" y="489204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5042916"/>
            <a:ext cx="301752" cy="30175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792224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이상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792224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 낸 상태로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526280" y="489204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5042916"/>
            <a:ext cx="301752" cy="30175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312664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건조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5312664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손은 세균이 더 잘 옮음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8046720" y="489204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5042916"/>
            <a:ext cx="301752" cy="301752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8833104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장갑도 씻은 손에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8833104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장갑 찢어지면 즉시 교체</a:t>
            </a:r>
            <a:endParaRPr lang="en-US" sz="1150" dirty="0"/>
          </a:p>
        </p:txBody>
      </p:sp>
      <p:sp>
        <p:nvSpPr>
          <p:cNvPr id="49" name="Text 44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50" name="Text 4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2주차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세제 · 약품 안전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용도가 다른 약품을 섞으면 유해가스가 발생합니다. 한 번에 한 가지만.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496312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3500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알칼리성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기름 · 유지 제거 (유탕기 주변)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670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 자극 — 고무장갑 필수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9536" y="341071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264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산성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물때 · 스케일 제거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584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부식 주의, 장시간 방치 금지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325112"/>
            <a:ext cx="310896" cy="310896"/>
          </a:xfrm>
          <a:prstGeom prst="ellipse">
            <a:avLst/>
          </a:prstGeom>
          <a:solidFill>
            <a:srgbClr val="BF3A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07008" y="41788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염소계 살균제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기구 · 표면 살균 (희석 사용)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4988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산성 세제와 절대 혼합 금지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5239512"/>
            <a:ext cx="310896" cy="310896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50932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 70%</a:t>
            </a:r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 · 소도구 표면 살균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413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화기 주변 사용 금지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2240280"/>
            <a:ext cx="4736592" cy="2240280"/>
          </a:xfrm>
          <a:prstGeom prst="roundRect">
            <a:avLst>
              <a:gd name="adj" fmla="val 4082"/>
            </a:avLst>
          </a:prstGeom>
          <a:solidFill>
            <a:srgbClr val="BF3A20"/>
          </a:solidFill>
          <a:ln/>
          <a:effectLst>
            <a:outerShdw sx="100000" sy="100000" kx="0" ky="0" algn="bl" rotWithShape="0" blurRad="228600" dist="25400" dir="5400000">
              <a:srgbClr val="13232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96328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204" y="2665476"/>
            <a:ext cx="301752" cy="3017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909560" y="254203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섞지 마세요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196328" y="331012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염소계 + 산성 세제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염소가스 발생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염소계 + 암모니아계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유해가스 발생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E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희석은 지정 용기에, 정해진 농도로만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812280" y="4663440"/>
            <a:ext cx="4736592" cy="132588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1323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시 필수 보호구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242048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348" y="5289804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77456" y="5669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고글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321040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528980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156448" y="5669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내화학 장갑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9400032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32" y="5289804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235440" y="5669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10479024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324" y="5289804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314432" y="5669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마스크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3주차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색 구분 · 이물 관리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섞어 쓰면 오염이 그대로 옮겨갑니다. 색이 곧 사용 구역입니다.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22144" cy="1554480"/>
          </a:xfrm>
          <a:prstGeom prst="roundRect">
            <a:avLst>
              <a:gd name="adj" fmla="val 5882"/>
            </a:avLst>
          </a:prstGeom>
          <a:solidFill>
            <a:srgbClr val="C8372D"/>
          </a:solidFill>
          <a:ln/>
          <a:effectLst>
            <a:outerShdw sx="100000" sy="100000" kx="0" ky="0" algn="bl" rotWithShape="0" blurRad="177800" dist="25400" dir="5400000">
              <a:srgbClr val="13232F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944368"/>
            <a:ext cx="197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3101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배수구 · 트렌치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6544" y="2240280"/>
            <a:ext cx="2522144" cy="1554480"/>
          </a:xfrm>
          <a:prstGeom prst="roundRect">
            <a:avLst>
              <a:gd name="adj" fmla="val 5882"/>
            </a:avLst>
          </a:prstGeom>
          <a:solidFill>
            <a:srgbClr val="2C6FAF"/>
          </a:solidFill>
          <a:ln/>
          <a:effectLst>
            <a:outerShdw sx="100000" sy="100000" kx="0" ky="0" algn="bl" rotWithShape="0" blurRad="177800" dist="25400" dir="5400000">
              <a:srgbClr val="13232F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64" y="24688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0864" y="2944368"/>
            <a:ext cx="197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710864" y="33101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· 기구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3008" y="2240280"/>
            <a:ext cx="2522144" cy="1554480"/>
          </a:xfrm>
          <a:prstGeom prst="roundRect">
            <a:avLst>
              <a:gd name="adj" fmla="val 5882"/>
            </a:avLst>
          </a:prstGeom>
          <a:solidFill>
            <a:srgbClr val="3E8E6E"/>
          </a:solidFill>
          <a:ln/>
          <a:effectLst>
            <a:outerShdw sx="100000" sy="100000" kx="0" ky="0" algn="bl" rotWithShape="0" blurRad="177800" dist="25400" dir="5400000">
              <a:srgbClr val="13232F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46888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944368"/>
            <a:ext cx="197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101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 · 벽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029471" y="2240280"/>
            <a:ext cx="2522144" cy="1554480"/>
          </a:xfrm>
          <a:prstGeom prst="roundRect">
            <a:avLst>
              <a:gd name="adj" fmla="val 5882"/>
            </a:avLst>
          </a:prstGeom>
          <a:solidFill>
            <a:srgbClr val="E8B23A"/>
          </a:solidFill>
          <a:ln/>
          <a:effectLst>
            <a:outerShdw sx="100000" sy="100000" kx="0" ky="0" algn="bl" rotWithShape="0" blurRad="177800" dist="25400" dir="5400000">
              <a:srgbClr val="13232F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791" y="24688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03791" y="2944368"/>
            <a:ext cx="197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9303791" y="33101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알레르겐 취급 구역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4023360"/>
            <a:ext cx="3423818" cy="1005840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4400" y="4261104"/>
            <a:ext cx="512064" cy="512064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38912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72768" y="420624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전 파손 점검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572768" y="4498848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털 빠짐 · 갈라짐 · 조각 떨어짐 확인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3938" y="4023360"/>
            <a:ext cx="3423818" cy="1005840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58258" y="4261104"/>
            <a:ext cx="512064" cy="512064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274" y="438912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16626" y="420624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· 철사 브러시 금지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5316626" y="4498848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지정된 플라스틱 · 스테인리스만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127797" y="4023360"/>
            <a:ext cx="3423818" cy="1005840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402117" y="4261104"/>
            <a:ext cx="512064" cy="512064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0133" y="4389120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60485" y="420624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후 세척 · 걸어 보관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9060485" y="4498848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두지 않고 건조 상태로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40080" y="521208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3232F"/>
          </a:solidFill>
          <a:ln/>
          <a:effectLst>
            <a:outerShdw sx="100000" sy="100000" kx="0" ky="0" algn="bl" rotWithShape="0" blurRad="203200" dist="25400" dir="5400000">
              <a:srgbClr val="13232F">
                <a:alpha val="2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932688" y="53492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418" y="5474970"/>
            <a:ext cx="251460" cy="25146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600200" y="534924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걸레 · 수세미 · 장갑 조각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고객 이물 클레임에서 가장 많이 나오는 원인입니다. 청소 후 도구 개수까지 확인하세요.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42" name="Text 32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· 4주차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순서 9단계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 이미 닦은 곳이 다시 오염됩니다.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487168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243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542032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50976" y="329184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0976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81328" y="3236976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차단 · 잠금(LOTO)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50976" y="3913632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0976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3858768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· 포장재 반출 또는 덮개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50976" y="453542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44805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건식 제거 — 진공 · 쓸기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83938" y="224028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76546" y="2487168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262432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44058" y="2542032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4694834" y="3291840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694834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225186" y="3236976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 세척 (저압, 물 튐 주의)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94834" y="3913632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9483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225186" y="3858768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세제 도포 + 접촉시간 유지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4694834" y="4535424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4834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225186" y="44805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브러싱 — 구석 · 틈새까지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8127797" y="224028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420405" y="2487168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565" y="2624328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087917" y="2542032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2000" dirty="0"/>
          </a:p>
        </p:txBody>
      </p:sp>
      <p:sp>
        <p:nvSpPr>
          <p:cNvPr id="36" name="Shape 31"/>
          <p:cNvSpPr/>
          <p:nvPr/>
        </p:nvSpPr>
        <p:spPr>
          <a:xfrm>
            <a:off x="8438693" y="329184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438693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8969045" y="3236976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헹굼 · 물기 제거(스퀴지)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8438693" y="391363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438693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8969045" y="3858768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살균 후 완전 건조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8438693" y="453542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438693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969045" y="44805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이물 점검 · 금속검출기 감도 확인</a:t>
            </a:r>
            <a:endParaRPr lang="en-US" sz="1250" dirty="0"/>
          </a:p>
        </p:txBody>
      </p:sp>
      <p:sp>
        <p:nvSpPr>
          <p:cNvPr id="45" name="Shape 40"/>
          <p:cNvSpPr/>
          <p:nvPr/>
        </p:nvSpPr>
        <p:spPr>
          <a:xfrm>
            <a:off x="640080" y="544068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40080" y="544068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→ 아래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383938" y="544068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4383938" y="544068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청결구역 → 오염구역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8127797" y="544068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BF3A20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127797" y="544068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배수구는 맨 마지막</a:t>
            </a:r>
            <a:endParaRPr lang="en-US" sz="1400" dirty="0"/>
          </a:p>
        </p:txBody>
      </p:sp>
      <p:sp>
        <p:nvSpPr>
          <p:cNvPr id="51" name="Text 46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52" name="Text 47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공정별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 라인 공정별 청소 위험지점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담당구역 배정 시 함께 확인 — 구역마다 위험이 다릅니다.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478024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968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7824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배합 · 호퍼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33756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분진 · 반죽 고착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59359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에어건 분사 금지, 진공 우선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5114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2858" y="2478024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30" y="259689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62858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압연 롤러 · 절출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62858" y="333756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협착 · 돌발 기동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662858" y="359359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차단·잠금 후 착수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0148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7892" y="2478024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64" y="259689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7892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증숙기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447892" y="333756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응축수 → 곰팡이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447892" y="359359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감압 확인, 물기 완전 제거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95181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2925" y="2478024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797" y="259689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2925" y="304495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유탕기 · 후드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232925" y="333756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잔유 · 화재 · 화상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9232925" y="359359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식은 뒤, 덕트 기름 제거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77824" y="4443984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62856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77824" y="501091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컨베이어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77824" y="530352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결로 · 낙하 이물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877824" y="555955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상부 구조물 먼저 청소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425114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662858" y="4443984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730" y="4562856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662858" y="501091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 충전부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3662858" y="530352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알레르겐 교차오염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3662858" y="555955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도구로 건식 제거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210148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447892" y="4443984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6764" y="4562856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447892" y="501091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 · 실링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6447892" y="530352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필름 · 라벨 조각</a:t>
            </a:r>
            <a:endParaRPr lang="en-US" sz="1150" dirty="0"/>
          </a:p>
        </p:txBody>
      </p:sp>
      <p:sp>
        <p:nvSpPr>
          <p:cNvPr id="47" name="Text 38"/>
          <p:cNvSpPr txBox="1"/>
          <p:nvPr/>
        </p:nvSpPr>
        <p:spPr>
          <a:xfrm>
            <a:off x="6447892" y="555955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전량 회수 후 반출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8995181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232925" y="4443984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797" y="4562856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232925" y="5010912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 · 배수구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9232925" y="5303520"/>
            <a:ext cx="2099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3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슬러지 · 해충</a:t>
            </a:r>
            <a:endParaRPr lang="en-US" sz="1150" dirty="0"/>
          </a:p>
        </p:txBody>
      </p:sp>
      <p:sp>
        <p:nvSpPr>
          <p:cNvPr id="53" name="Text 43"/>
          <p:cNvSpPr txBox="1"/>
          <p:nvPr/>
        </p:nvSpPr>
        <p:spPr>
          <a:xfrm>
            <a:off x="9232925" y="5559552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마지막, 빨강 전용 도구</a:t>
            </a:r>
            <a:endParaRPr lang="en-US" sz="1100" dirty="0"/>
          </a:p>
        </p:txBody>
      </p:sp>
      <p:sp>
        <p:nvSpPr>
          <p:cNvPr id="54" name="Text 44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55" name="Text 4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진행자용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운영 방식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 5장은 매주 그대로, 심화 슬라이드 1장만 4주 주기로 교체합니다.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56434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468880"/>
            <a:ext cx="914400" cy="310896"/>
          </a:xfrm>
          <a:prstGeom prst="roundRect">
            <a:avLst>
              <a:gd name="adj" fmla="val 147059"/>
            </a:avLst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907792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304495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77824" y="3584448"/>
            <a:ext cx="2099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손위생 · 개인위생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4078224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실연 1회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25114" y="2240280"/>
            <a:ext cx="2556434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62858" y="2468880"/>
            <a:ext cx="914400" cy="310896"/>
          </a:xfrm>
          <a:prstGeom prst="roundRect">
            <a:avLst>
              <a:gd name="adj" fmla="val 147059"/>
            </a:avLst>
          </a:prstGeom>
          <a:solidFill>
            <a:srgbClr val="13232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62858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62858" y="2907792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18" y="304495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62858" y="3584448"/>
            <a:ext cx="2099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세제 · 약품 안전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662858" y="4078224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희석 농도표 위치 확인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0148" y="2240280"/>
            <a:ext cx="2556434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47892" y="2468880"/>
            <a:ext cx="914400" cy="310896"/>
          </a:xfrm>
          <a:prstGeom prst="roundRect">
            <a:avLst>
              <a:gd name="adj" fmla="val 147059"/>
            </a:avLst>
          </a:prstGeom>
          <a:solidFill>
            <a:srgbClr val="13232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47892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47892" y="2907792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52" y="304495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47892" y="3584448"/>
            <a:ext cx="2099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색 구분 · 이물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447892" y="4078224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도구함 현장 점검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995181" y="2240280"/>
            <a:ext cx="2556434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32925" y="2468880"/>
            <a:ext cx="914400" cy="310896"/>
          </a:xfrm>
          <a:prstGeom prst="roundRect">
            <a:avLst>
              <a:gd name="adj" fmla="val 147059"/>
            </a:avLst>
          </a:prstGeom>
          <a:solidFill>
            <a:srgbClr val="13232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32925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232925" y="2907792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085" y="304495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232925" y="3584448"/>
            <a:ext cx="2099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순서 9단계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232925" y="4078224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재가동 전 확인 강조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40080" y="47548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14400" y="5029200"/>
            <a:ext cx="512064" cy="512064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15721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572768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기록은 주 1행만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1572768" y="5230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· 진행자 · 참석인원 · 심화주제 번호만 기록표에 남깁니다. 서명부 · 퀴즈는 없습니다.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6355080" y="47548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3232F"/>
          </a:solidFill>
          <a:ln/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629400" y="50292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5157216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287768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핫이슈 한 줄 추가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287768" y="5230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7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전주에 이물 클레임 · 사고 · 지적사항이 있었다면 그 내용 한 줄을 본편 끝에 덧붙입니다.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64008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전 위생교육 · 라면공장 주말청소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청소 전 위생교육</dc:title>
  <dc:subject>PptxGenJS Presentation</dc:subject>
  <dc:creator>위생관리팀</dc:creator>
  <cp:lastModifiedBy>위생관리팀</cp:lastModifiedBy>
  <cp:revision>1</cp:revision>
  <dcterms:created xsi:type="dcterms:W3CDTF">2026-09-18T04:48:34Z</dcterms:created>
  <dcterms:modified xsi:type="dcterms:W3CDTF">2026-09-18T04:48:34Z</dcterms:modified>
</cp:coreProperties>
</file>