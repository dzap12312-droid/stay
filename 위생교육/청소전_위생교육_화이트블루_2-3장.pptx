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가지를 손가락으로 세면서 짚어준다. 매주 같은 문장으로 반복하는 것이 목적.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신고는 불이익이 아니라 절차임을 매주 강조한다. 해당자는 당일 청소작업에서 제외.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1C60EF"/>
                </a:solidFill>
                <a:latin typeface="에이투지체" pitchFamily="34" charset="0"/>
                <a:ea typeface="에이투지체" pitchFamily="34" charset="-122"/>
                <a:cs typeface="에이투지체" pitchFamily="34" charset="-120"/>
              </a:rPr>
              <a:t>청소 전 위생교육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2A56"/>
                </a:solidFill>
                <a:latin typeface="한국기계연구원" pitchFamily="34" charset="0"/>
                <a:ea typeface="한국기계연구원" pitchFamily="34" charset="-122"/>
                <a:cs typeface="한국기계연구원" pitchFamily="34" charset="-120"/>
              </a:rPr>
              <a:t>오늘 꼭 지킬 3가지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64208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95AC"/>
                </a:solidFill>
                <a:latin typeface="에이투지체" pitchFamily="34" charset="0"/>
                <a:ea typeface="에이투지체" pitchFamily="34" charset="-122"/>
                <a:cs typeface="에이투지체" pitchFamily="34" charset="-120"/>
              </a:rPr>
              <a:t>이 3가지만 지켜도 청소로 인한 이물·오염 사고는 대부분 막을 수 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544269" y="2194560"/>
            <a:ext cx="1645920" cy="1645920"/>
          </a:xfrm>
          <a:prstGeom prst="ellipse">
            <a:avLst/>
          </a:prstGeom>
          <a:solidFill>
            <a:srgbClr val="DBE8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325" y="2642616"/>
            <a:ext cx="749808" cy="7498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842717" y="2231136"/>
            <a:ext cx="475488" cy="475488"/>
          </a:xfrm>
          <a:prstGeom prst="ellipse">
            <a:avLst/>
          </a:prstGeom>
          <a:solidFill>
            <a:srgbClr val="1C60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842717" y="2231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한국기계연구원" pitchFamily="34" charset="0"/>
                <a:ea typeface="한국기계연구원" pitchFamily="34" charset="-122"/>
                <a:cs typeface="한국기계연구원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059936"/>
            <a:ext cx="3271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A56"/>
                </a:solidFill>
                <a:latin typeface="한국기계연구원" pitchFamily="34" charset="0"/>
                <a:ea typeface="한국기계연구원" pitchFamily="34" charset="-122"/>
                <a:cs typeface="한국기계연구원" pitchFamily="34" charset="-120"/>
              </a:rPr>
              <a:t>손 깨끗이 씻기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526280"/>
            <a:ext cx="3454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5566F"/>
                </a:solidFill>
                <a:latin typeface="에이투지체" pitchFamily="34" charset="0"/>
                <a:ea typeface="에이투지체" pitchFamily="34" charset="-122"/>
                <a:cs typeface="에이투지체" pitchFamily="34" charset="-120"/>
              </a:rPr>
              <a:t>비누 거품으로 30초 이상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5566F"/>
                </a:solidFill>
                <a:latin typeface="에이투지체" pitchFamily="34" charset="0"/>
                <a:ea typeface="에이투지체" pitchFamily="34" charset="-122"/>
                <a:cs typeface="에이투지체" pitchFamily="34" charset="-120"/>
              </a:rPr>
              <a:t>헹군 뒤 완전히 건조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72888" y="2194560"/>
            <a:ext cx="1645920" cy="1645920"/>
          </a:xfrm>
          <a:prstGeom prst="ellipse">
            <a:avLst/>
          </a:prstGeom>
          <a:solidFill>
            <a:srgbClr val="DBE8F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944" y="2642616"/>
            <a:ext cx="749808" cy="74980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71336" y="2231136"/>
            <a:ext cx="475488" cy="475488"/>
          </a:xfrm>
          <a:prstGeom prst="ellipse">
            <a:avLst/>
          </a:prstGeom>
          <a:solidFill>
            <a:srgbClr val="1C60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571336" y="2231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한국기계연구원" pitchFamily="34" charset="0"/>
                <a:ea typeface="한국기계연구원" pitchFamily="34" charset="-122"/>
                <a:cs typeface="한국기계연구원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460138" y="4059936"/>
            <a:ext cx="3271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A56"/>
                </a:solidFill>
                <a:latin typeface="한국기계연구원" pitchFamily="34" charset="0"/>
                <a:ea typeface="한국기계연구원" pitchFamily="34" charset="-122"/>
                <a:cs typeface="한국기계연구원" pitchFamily="34" charset="-120"/>
              </a:rPr>
              <a:t>머리카락 단정히</a:t>
            </a:r>
            <a:endParaRPr lang="en-US" sz="2100" dirty="0"/>
          </a:p>
        </p:txBody>
      </p:sp>
      <p:sp>
        <p:nvSpPr>
          <p:cNvPr id="16" name="Text 12"/>
          <p:cNvSpPr txBox="1"/>
          <p:nvPr/>
        </p:nvSpPr>
        <p:spPr>
          <a:xfrm>
            <a:off x="4368698" y="4526280"/>
            <a:ext cx="3454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5566F"/>
                </a:solidFill>
                <a:latin typeface="에이투지체" pitchFamily="34" charset="0"/>
                <a:ea typeface="에이투지체" pitchFamily="34" charset="-122"/>
                <a:cs typeface="에이투지체" pitchFamily="34" charset="-120"/>
              </a:rPr>
              <a:t>머리는 묶어서 노출 없이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5566F"/>
                </a:solidFill>
                <a:latin typeface="에이투지체" pitchFamily="34" charset="0"/>
                <a:ea typeface="에이투지체" pitchFamily="34" charset="-122"/>
                <a:cs typeface="에이투지체" pitchFamily="34" charset="-120"/>
              </a:rPr>
              <a:t>청소 중 머리·얼굴 만지지 않기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9001506" y="2194560"/>
            <a:ext cx="1645920" cy="1645920"/>
          </a:xfrm>
          <a:prstGeom prst="ellipse">
            <a:avLst/>
          </a:prstGeom>
          <a:solidFill>
            <a:srgbClr val="DBE8F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9562" y="2642616"/>
            <a:ext cx="749808" cy="749808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10299954" y="2231136"/>
            <a:ext cx="475488" cy="475488"/>
          </a:xfrm>
          <a:prstGeom prst="ellipse">
            <a:avLst/>
          </a:prstGeom>
          <a:solidFill>
            <a:srgbClr val="1C60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10299954" y="2231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한국기계연구원" pitchFamily="34" charset="0"/>
                <a:ea typeface="한국기계연구원" pitchFamily="34" charset="-122"/>
                <a:cs typeface="한국기계연구원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188757" y="4059936"/>
            <a:ext cx="3271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A56"/>
                </a:solidFill>
                <a:latin typeface="한국기계연구원" pitchFamily="34" charset="0"/>
                <a:ea typeface="한국기계연구원" pitchFamily="34" charset="-122"/>
                <a:cs typeface="한국기계연구원" pitchFamily="34" charset="-120"/>
              </a:rPr>
              <a:t>이물 흘리지 않기</a:t>
            </a:r>
            <a:endParaRPr lang="en-US" sz="2100" dirty="0"/>
          </a:p>
        </p:txBody>
      </p:sp>
      <p:sp>
        <p:nvSpPr>
          <p:cNvPr id="22" name="Text 17"/>
          <p:cNvSpPr txBox="1"/>
          <p:nvPr/>
        </p:nvSpPr>
        <p:spPr>
          <a:xfrm>
            <a:off x="8097317" y="4526280"/>
            <a:ext cx="34542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5566F"/>
                </a:solidFill>
                <a:latin typeface="에이투지체" pitchFamily="34" charset="0"/>
                <a:ea typeface="에이투지체" pitchFamily="34" charset="-122"/>
                <a:cs typeface="에이투지체" pitchFamily="34" charset="-120"/>
              </a:rPr>
              <a:t>장갑·걸레 조각, 공구,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5566F"/>
                </a:solidFill>
                <a:latin typeface="에이투지체" pitchFamily="34" charset="0"/>
                <a:ea typeface="에이투지체" pitchFamily="34" charset="-122"/>
                <a:cs typeface="에이투지체" pitchFamily="34" charset="-120"/>
              </a:rPr>
              <a:t>개인물품 라인 잔류 금지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949544" y="5376672"/>
            <a:ext cx="292608" cy="256032"/>
          </a:xfrm>
          <a:prstGeom prst="downArrow">
            <a:avLst/>
          </a:prstGeom>
          <a:solidFill>
            <a:srgbClr val="9EC3FB"/>
          </a:solidFill>
          <a:ln/>
        </p:spPr>
      </p:sp>
      <p:sp>
        <p:nvSpPr>
          <p:cNvPr id="24" name="Shape 19"/>
          <p:cNvSpPr/>
          <p:nvPr/>
        </p:nvSpPr>
        <p:spPr>
          <a:xfrm>
            <a:off x="3261208" y="5724144"/>
            <a:ext cx="5669280" cy="658368"/>
          </a:xfrm>
          <a:prstGeom prst="roundRect">
            <a:avLst>
              <a:gd name="adj" fmla="val 69444"/>
            </a:avLst>
          </a:prstGeom>
          <a:solidFill>
            <a:srgbClr val="1C60EF"/>
          </a:solidFill>
          <a:ln/>
          <a:effectLst>
            <a:outerShdw sx="100000" sy="100000" kx="0" ky="0" algn="bl" rotWithShape="0" blurRad="177800" dist="25400" dir="5400000">
              <a:srgbClr val="1C60EF">
                <a:alpha val="22000"/>
              </a:srgbClr>
            </a:outerShdw>
          </a:effectLst>
        </p:spPr>
      </p:sp>
      <p:sp>
        <p:nvSpPr>
          <p:cNvPr id="25" name="Text 20"/>
          <p:cNvSpPr txBox="1"/>
          <p:nvPr/>
        </p:nvSpPr>
        <p:spPr>
          <a:xfrm>
            <a:off x="3261208" y="5724144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한국기계연구원" pitchFamily="34" charset="0"/>
                <a:ea typeface="한국기계연구원" pitchFamily="34" charset="-122"/>
                <a:cs typeface="한국기계연구원" pitchFamily="34" charset="-120"/>
              </a:rPr>
              <a:t>3가지 모두 확인 → 청소 시작</a:t>
            </a:r>
            <a:endParaRPr lang="en-US" sz="1700" dirty="0"/>
          </a:p>
        </p:txBody>
      </p:sp>
      <p:sp>
        <p:nvSpPr>
          <p:cNvPr id="26" name="Text 21"/>
          <p:cNvSpPr txBox="1"/>
          <p:nvPr/>
        </p:nvSpPr>
        <p:spPr>
          <a:xfrm>
            <a:off x="1091153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95AC"/>
                </a:solidFill>
                <a:latin typeface="에이투지체" pitchFamily="34" charset="0"/>
                <a:ea typeface="에이투지체" pitchFamily="34" charset="-122"/>
                <a:cs typeface="에이투지체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40" kern="0" dirty="0">
                <a:solidFill>
                  <a:srgbClr val="1C60EF"/>
                </a:solidFill>
                <a:latin typeface="에이투지체" pitchFamily="34" charset="0"/>
                <a:ea typeface="에이투지체" pitchFamily="34" charset="-122"/>
                <a:cs typeface="에이투지체" pitchFamily="34" charset="-120"/>
              </a:rPr>
              <a:t>청소 전 위생교육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2A56"/>
                </a:solidFill>
                <a:latin typeface="한국기계연구원" pitchFamily="34" charset="0"/>
                <a:ea typeface="한국기계연구원" pitchFamily="34" charset="-122"/>
                <a:cs typeface="한국기계연구원" pitchFamily="34" charset="-120"/>
              </a:rPr>
              <a:t>청소 전 개인위생 체크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64208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95AC"/>
                </a:solidFill>
                <a:latin typeface="에이투지체" pitchFamily="34" charset="0"/>
                <a:ea typeface="에이투지체" pitchFamily="34" charset="-122"/>
                <a:cs typeface="에이투지체" pitchFamily="34" charset="-120"/>
              </a:rPr>
              <a:t>현장 투입 전, 본인 상태를 스스로 확인합니다.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76856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BE8F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2359152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53312" y="218541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56"/>
                </a:solidFill>
                <a:latin typeface="한국기계연구원" pitchFamily="34" charset="0"/>
                <a:ea typeface="한국기계연구원" pitchFamily="34" charset="-122"/>
                <a:cs typeface="한국기계연구원" pitchFamily="34" charset="-120"/>
              </a:rPr>
              <a:t>손씻기 완료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1353312" y="25146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95AC"/>
                </a:solidFill>
                <a:latin typeface="에이투지체" pitchFamily="34" charset="0"/>
                <a:ea typeface="에이투지체" pitchFamily="34" charset="-122"/>
                <a:cs typeface="에이투지체" pitchFamily="34" charset="-120"/>
              </a:rPr>
              <a:t>손 세정 후 건조까지 — 장갑은 씻은 손에 착용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31181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BE8F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32004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53312" y="30266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56"/>
                </a:solidFill>
                <a:latin typeface="한국기계연구원" pitchFamily="34" charset="0"/>
                <a:ea typeface="한국기계연구원" pitchFamily="34" charset="-122"/>
                <a:cs typeface="한국기계연구원" pitchFamily="34" charset="-120"/>
              </a:rPr>
              <a:t>상처는 방수밴드 + 장갑</a:t>
            </a:r>
            <a:endParaRPr lang="en-US" sz="1650" dirty="0"/>
          </a:p>
        </p:txBody>
      </p:sp>
      <p:sp>
        <p:nvSpPr>
          <p:cNvPr id="12" name="Text 8"/>
          <p:cNvSpPr txBox="1"/>
          <p:nvPr/>
        </p:nvSpPr>
        <p:spPr>
          <a:xfrm>
            <a:off x="1353312" y="33558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95AC"/>
                </a:solidFill>
                <a:latin typeface="에이투지체" pitchFamily="34" charset="0"/>
                <a:ea typeface="에이투지체" pitchFamily="34" charset="-122"/>
                <a:cs typeface="에이투지체" pitchFamily="34" charset="-120"/>
              </a:rPr>
              <a:t>손·팔에 상처가 있으면 반드시 덮고 작업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31520" y="395935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BE8F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404164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53312" y="38679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56"/>
                </a:solidFill>
                <a:latin typeface="한국기계연구원" pitchFamily="34" charset="0"/>
                <a:ea typeface="한국기계연구원" pitchFamily="34" charset="-122"/>
                <a:cs typeface="한국기계연구원" pitchFamily="34" charset="-120"/>
              </a:rPr>
              <a:t>액세서리 · 인조손톱 금지</a:t>
            </a:r>
            <a:endParaRPr lang="en-US" sz="1650" dirty="0"/>
          </a:p>
        </p:txBody>
      </p:sp>
      <p:sp>
        <p:nvSpPr>
          <p:cNvPr id="16" name="Text 11"/>
          <p:cNvSpPr txBox="1"/>
          <p:nvPr/>
        </p:nvSpPr>
        <p:spPr>
          <a:xfrm>
            <a:off x="1353312" y="41970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95AC"/>
                </a:solidFill>
                <a:latin typeface="에이투지체" pitchFamily="34" charset="0"/>
                <a:ea typeface="에이투지체" pitchFamily="34" charset="-122"/>
                <a:cs typeface="에이투지체" pitchFamily="34" charset="-120"/>
              </a:rPr>
              <a:t>반지 · 시계 · 귀걸이 · 네일은 탈의실 보관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731520" y="4800600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DBE8F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4882896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53312" y="47091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02A56"/>
                </a:solidFill>
                <a:latin typeface="한국기계연구원" pitchFamily="34" charset="0"/>
                <a:ea typeface="한국기계연구원" pitchFamily="34" charset="-122"/>
                <a:cs typeface="한국기계연구원" pitchFamily="34" charset="-120"/>
              </a:rPr>
              <a:t>주머니 비우기</a:t>
            </a:r>
            <a:endParaRPr lang="en-US" sz="1650" dirty="0"/>
          </a:p>
        </p:txBody>
      </p:sp>
      <p:sp>
        <p:nvSpPr>
          <p:cNvPr id="20" name="Text 14"/>
          <p:cNvSpPr txBox="1"/>
          <p:nvPr/>
        </p:nvSpPr>
        <p:spPr>
          <a:xfrm>
            <a:off x="1353312" y="50383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95AC"/>
                </a:solidFill>
                <a:latin typeface="에이투지체" pitchFamily="34" charset="0"/>
                <a:ea typeface="에이투지체" pitchFamily="34" charset="-122"/>
                <a:cs typeface="에이투지체" pitchFamily="34" charset="-120"/>
              </a:rPr>
              <a:t>휴대폰 · 볼펜 · 사탕 등 개인물품 반입 금지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31520" y="5614416"/>
            <a:ext cx="4480560" cy="566928"/>
          </a:xfrm>
          <a:prstGeom prst="roundRect">
            <a:avLst>
              <a:gd name="adj" fmla="val 80645"/>
            </a:avLst>
          </a:prstGeom>
          <a:solidFill>
            <a:srgbClr val="FFFFFF"/>
          </a:solidFill>
          <a:ln w="15875">
            <a:solidFill>
              <a:srgbClr val="1C60EF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31520" y="561441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60EF"/>
                </a:solidFill>
                <a:latin typeface="한국기계연구원" pitchFamily="34" charset="0"/>
                <a:ea typeface="한국기계연구원" pitchFamily="34" charset="-122"/>
                <a:cs typeface="한국기계연구원" pitchFamily="34" charset="-120"/>
              </a:rPr>
              <a:t>4개 모두 확인 후 청소도구 수령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583680" y="2148840"/>
            <a:ext cx="487375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C60E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812280" y="2350008"/>
            <a:ext cx="512064" cy="512064"/>
          </a:xfrm>
          <a:prstGeom prst="ellipse">
            <a:avLst/>
          </a:prstGeom>
          <a:solidFill>
            <a:srgbClr val="DBE8F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152" y="24688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452360" y="2286000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56"/>
                </a:solidFill>
                <a:latin typeface="한국기계연구원" pitchFamily="34" charset="0"/>
                <a:ea typeface="한국기계연구원" pitchFamily="34" charset="-122"/>
                <a:cs typeface="한국기계연구원" pitchFamily="34" charset="-120"/>
              </a:rPr>
              <a:t>몸 상태, 이상 없나요?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452360" y="2615184"/>
            <a:ext cx="3776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695AC"/>
                </a:solidFill>
                <a:latin typeface="에이투지체" pitchFamily="34" charset="0"/>
                <a:ea typeface="에이투지체" pitchFamily="34" charset="-122"/>
                <a:cs typeface="에이투지체" pitchFamily="34" charset="-120"/>
              </a:rPr>
              <a:t>설사 · 복통 / 발열 / 구토 / 화농성 상처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883396" y="3154680"/>
            <a:ext cx="274320" cy="274320"/>
          </a:xfrm>
          <a:prstGeom prst="downArrow">
            <a:avLst/>
          </a:prstGeom>
          <a:solidFill>
            <a:srgbClr val="9EC3FB"/>
          </a:solidFill>
          <a:ln/>
        </p:spPr>
      </p:sp>
      <p:sp>
        <p:nvSpPr>
          <p:cNvPr id="29" name="Shape 22"/>
          <p:cNvSpPr/>
          <p:nvPr/>
        </p:nvSpPr>
        <p:spPr>
          <a:xfrm>
            <a:off x="6583680" y="3566160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DBE8FE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3136" y="3749040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187184" y="373989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47C2"/>
                </a:solidFill>
                <a:latin typeface="한국기계연구원" pitchFamily="34" charset="0"/>
                <a:ea typeface="한국기계연구원" pitchFamily="34" charset="-122"/>
                <a:cs typeface="한국기계연구원" pitchFamily="34" charset="-120"/>
              </a:rPr>
              <a:t>이상 없음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803136" y="4133088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4A7A"/>
                </a:solidFill>
                <a:latin typeface="에이투지체" pitchFamily="34" charset="0"/>
                <a:ea typeface="에이투지체" pitchFamily="34" charset="-122"/>
                <a:cs typeface="에이투지체" pitchFamily="34" charset="-120"/>
              </a:rPr>
              <a:t>평소대로 청소 투입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7639812" y="4626864"/>
            <a:ext cx="219456" cy="237744"/>
          </a:xfrm>
          <a:prstGeom prst="downArrow">
            <a:avLst/>
          </a:prstGeom>
          <a:solidFill>
            <a:srgbClr val="9EC3FB"/>
          </a:solidFill>
          <a:ln/>
        </p:spPr>
      </p:sp>
      <p:sp>
        <p:nvSpPr>
          <p:cNvPr id="34" name="Shape 26"/>
          <p:cNvSpPr/>
          <p:nvPr/>
        </p:nvSpPr>
        <p:spPr>
          <a:xfrm>
            <a:off x="6583680" y="4974336"/>
            <a:ext cx="23317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CFB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6583680" y="497433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60EF"/>
                </a:solidFill>
                <a:latin typeface="한국기계연구원" pitchFamily="34" charset="0"/>
                <a:ea typeface="한국기계연구원" pitchFamily="34" charset="-122"/>
                <a:cs typeface="한국기계연구원" pitchFamily="34" charset="-120"/>
              </a:rPr>
              <a:t>청소 시작</a:t>
            </a:r>
            <a:endParaRPr lang="en-US" sz="1350" dirty="0"/>
          </a:p>
        </p:txBody>
      </p:sp>
      <p:sp>
        <p:nvSpPr>
          <p:cNvPr id="36" name="Shape 28"/>
          <p:cNvSpPr/>
          <p:nvPr/>
        </p:nvSpPr>
        <p:spPr>
          <a:xfrm>
            <a:off x="9125712" y="3566160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1C60EF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5168" y="3749040"/>
            <a:ext cx="292608" cy="292608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9729216" y="373989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한국기계연구원" pitchFamily="34" charset="0"/>
                <a:ea typeface="한국기계연구원" pitchFamily="34" charset="-122"/>
                <a:cs typeface="한국기계연구원" pitchFamily="34" charset="-120"/>
              </a:rPr>
              <a:t>이상 있음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9345168" y="4133088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6FF"/>
                </a:solidFill>
                <a:latin typeface="에이투지체" pitchFamily="34" charset="0"/>
                <a:ea typeface="에이투지체" pitchFamily="34" charset="-122"/>
                <a:cs typeface="에이투지체" pitchFamily="34" charset="-120"/>
              </a:rPr>
              <a:t>담당자에게 즉시 신고</a:t>
            </a:r>
            <a:endParaRPr lang="en-US" sz="1150" dirty="0"/>
          </a:p>
        </p:txBody>
      </p:sp>
      <p:sp>
        <p:nvSpPr>
          <p:cNvPr id="40" name="Shape 31"/>
          <p:cNvSpPr/>
          <p:nvPr/>
        </p:nvSpPr>
        <p:spPr>
          <a:xfrm>
            <a:off x="10181844" y="4626864"/>
            <a:ext cx="219456" cy="237744"/>
          </a:xfrm>
          <a:prstGeom prst="downArrow">
            <a:avLst/>
          </a:prstGeom>
          <a:solidFill>
            <a:srgbClr val="9EC3FB"/>
          </a:solidFill>
          <a:ln/>
        </p:spPr>
      </p:sp>
      <p:sp>
        <p:nvSpPr>
          <p:cNvPr id="41" name="Shape 32"/>
          <p:cNvSpPr/>
          <p:nvPr/>
        </p:nvSpPr>
        <p:spPr>
          <a:xfrm>
            <a:off x="9125712" y="4974336"/>
            <a:ext cx="233172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9DCFB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9125712" y="497433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C60EF"/>
                </a:solidFill>
                <a:latin typeface="한국기계연구원" pitchFamily="34" charset="0"/>
                <a:ea typeface="한국기계연구원" pitchFamily="34" charset="-122"/>
                <a:cs typeface="한국기계연구원" pitchFamily="34" charset="-120"/>
              </a:rPr>
              <a:t>당일 청소 제외</a:t>
            </a:r>
            <a:endParaRPr lang="en-US" sz="1350" dirty="0"/>
          </a:p>
        </p:txBody>
      </p:sp>
      <p:sp>
        <p:nvSpPr>
          <p:cNvPr id="43" name="Text 34"/>
          <p:cNvSpPr txBox="1"/>
          <p:nvPr/>
        </p:nvSpPr>
        <p:spPr>
          <a:xfrm>
            <a:off x="6583680" y="5687568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95AC"/>
                </a:solidFill>
                <a:latin typeface="에이투지체" pitchFamily="34" charset="0"/>
                <a:ea typeface="에이투지체" pitchFamily="34" charset="-122"/>
                <a:cs typeface="에이투지체" pitchFamily="34" charset="-120"/>
              </a:rPr>
              <a:t>※ 숨기고 작업하면 개인 문제가 아니라 전 라인 회수 사고가 됩니다.</a:t>
            </a:r>
            <a:endParaRPr lang="en-US" sz="1100" dirty="0"/>
          </a:p>
        </p:txBody>
      </p:sp>
      <p:sp>
        <p:nvSpPr>
          <p:cNvPr id="44" name="Text 35"/>
          <p:cNvSpPr txBox="1"/>
          <p:nvPr/>
        </p:nvSpPr>
        <p:spPr>
          <a:xfrm>
            <a:off x="10911535" y="6327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695AC"/>
                </a:solidFill>
                <a:latin typeface="에이투지체" pitchFamily="34" charset="0"/>
                <a:ea typeface="에이투지체" pitchFamily="34" charset="-122"/>
                <a:cs typeface="에이투지체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청소 전 위생교육 (화이트&amp;블루 시안)</dc:title>
  <dc:subject>PptxGenJS Presentation</dc:subject>
  <dc:creator>PptxGenJS</dc:creator>
  <cp:lastModifiedBy>PptxGenJS</cp:lastModifiedBy>
  <cp:revision>1</cp:revision>
  <dcterms:created xsi:type="dcterms:W3CDTF">2026-09-18T05:00:43Z</dcterms:created>
  <dcterms:modified xsi:type="dcterms:W3CDTF">2026-09-18T05:00:43Z</dcterms:modified>
</cp:coreProperties>
</file>