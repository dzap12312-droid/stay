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[KR] 청소 투입 직전 현장에서 5분. 날짜·진행자·참석인원을 먼저 적고 시작.
[VN] Phổ biến 5 phút ngay trước khi vào làm. Ghi ngày, người phụ trách, số người rồi bắt đầu.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[KR] 세 가지를 손가락으로 세면서 반복. 매주 같은 문장.
[VN] Đếm ba điều bằng ngón tay, lặp lại cùng một câu mỗi tuần.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[KR] 숨기면 전 라인 회수 사고가 된다. 신고는 절차임을 강조.
[VN] Giấu bệnh có thể dẫn tới thu hồi cả lô hàng. Báo cáo là quy trình, không bị thiệt.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[KR] 세제 혼합 금지는 실제 가스 사고 사례로 설명. 젖은 바닥·롤러 돌발 기동도 매주 언급.
[VN] Giải thích cấm pha trộn bằng ví dụ tai nạn khí độc. Nhắc thêm sàn ướt và máy chạy bất ngờ.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[KR] 마지막 문장은 매주 같이 읽고 끝낸다.
[VN] Cùng đọc to câu cuối mỗi tuần rồi kết thúc.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[KR] 진행자가 6단계를 직접 1회 실연. 손톱 끝·손목 누락 방지.
[VN] Người phụ trách làm mẫu 6 bước một lần, tránh bỏ sót đầu móng và cổ tay.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[KR] 희석 농도표와 MSDS 위치를 손으로 가리켜 알려준다.
[VN] Chỉ tận nơi bảng nồng độ pha và vị trí phiếu MSDS.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[KR] ⑨(이물 점검·금속검출기 감도)를 빠뜨리기 쉽다. 재가동 책임자 지정.
[VN] Bước ⑨ hay bị bỏ sót. Chỉ định người chịu trách nhiệm trước khi chạy máy lại.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[KR] 배정된 구역 칸만 짚어 읽어준다. 전체를 매주 읽지 않는다.
[VN] Chỉ đọc ô của khu vực được phân công, không đọc hết mỗi tuần.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28600"/>
            <a:ext cx="6035040" cy="6035040"/>
          </a:xfrm>
          <a:prstGeom prst="ellipse">
            <a:avLst/>
          </a:prstGeom>
          <a:solidFill>
            <a:srgbClr val="1A2B3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143000"/>
            <a:ext cx="4206240" cy="4206240"/>
          </a:xfrm>
          <a:prstGeom prst="ellipse">
            <a:avLst/>
          </a:prstGeom>
          <a:solidFill>
            <a:srgbClr val="24394A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874520"/>
            <a:ext cx="2743200" cy="2743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Shape 3"/>
          <p:cNvSpPr/>
          <p:nvPr/>
        </p:nvSpPr>
        <p:spPr>
          <a:xfrm>
            <a:off x="10314432" y="2679192"/>
            <a:ext cx="1133856" cy="11338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7896" y="2962656"/>
            <a:ext cx="566928" cy="5669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371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TẠO VỆ SINH HÀNG TUẦN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vệ sinh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529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máy mì ăn liền · Phổ biến 5 phút trước khi làm vệ sinh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10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Hôm nay chỉ cần nhớ đúng 3 điều.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1333F"/>
          </a:solidFill>
          <a:ln w="9525">
            <a:solidFill>
              <a:srgbClr val="3A4E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4297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       .        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88920" y="42976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1333F"/>
          </a:solidFill>
          <a:ln w="9525">
            <a:solidFill>
              <a:srgbClr val="3A4E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35224" y="4297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phụ trách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37760" y="429768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21333F"/>
          </a:solidFill>
          <a:ln w="9525">
            <a:solidFill>
              <a:srgbClr val="3A4E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84064" y="4297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người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43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phận Quản lý vệ sinh · Bộ phận Sản xuất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HÔM NAY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điều bắt buộc phải giữ hôm nay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cần giữ đúng 3 điều này là ngăn được phần lớn sự cố dị vật và nhiễm bẩn do vệ sinh.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23818" cy="338328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875178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8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24128" y="2670048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298" y="2887218"/>
            <a:ext cx="434340" cy="4343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32688" y="3749040"/>
            <a:ext cx="28386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Rửa tay thật sạch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4279392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bọt xà phòng, rửa trên 30 giây,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xả dưới vòi nước chảy,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 khô hoàn toàn rồi vào xưởng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3938" y="2240280"/>
            <a:ext cx="3423818" cy="338328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619037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8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4767986" y="2670048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156" y="2887218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76546" y="3749040"/>
            <a:ext cx="28386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Buộc tóc gọn gàng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676546" y="4279392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Buộc tóc, không để tóc lộ ra,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sờ tay lên tóc và mặt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khi làm vệ sinh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27797" y="2240280"/>
            <a:ext cx="3423818" cy="3383280"/>
          </a:xfrm>
          <a:prstGeom prst="roundRect">
            <a:avLst>
              <a:gd name="adj" fmla="val 2703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10362895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8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8511845" y="2670048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015" y="2887218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20405" y="3749040"/>
            <a:ext cx="28386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để rơi dị vật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8420405" y="4279392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Mảnh găng tay, mảnh giẻ lau,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miếng cọ, dụng cụ, đồ cá nhân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được sót lại trên dây chuyền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vệ sinh · Vệ sinh cuối tuần — nhà máy mì ăn liền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HÔM NAY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vệ sinh cá nhân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khi vào hiện trường, mỗi người tự kiểm tra tình trạng của mình.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59736"/>
            <a:ext cx="521208" cy="52120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" y="2590038"/>
            <a:ext cx="260604" cy="2606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3957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rửa tay xong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724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Rửa rồi lau khô — chỉ đeo găng khi tay đã sạch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3419856"/>
            <a:ext cx="521208" cy="52120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4" y="3550158"/>
            <a:ext cx="260604" cy="2606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355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Vết thương: băng chống nước + găng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vết thương ở tay hoặc cánh tay thì phải che kín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4379976"/>
            <a:ext cx="521208" cy="52120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14" y="4510278"/>
            <a:ext cx="260604" cy="2606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3159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Cấm trang sức · móng giả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4645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Nhẫn · đồng hồ · bông tai · sơn móng — để ở phòng thay đồ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516636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5340096"/>
            <a:ext cx="521208" cy="52120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14" y="5470398"/>
            <a:ext cx="260604" cy="26060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52760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Dốc sạch túi quần áo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600200" y="5605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Cấm mang điện thoại, bút bi, kẹo, đồ cá nhân vào xưởng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812280" y="2286000"/>
            <a:ext cx="4736592" cy="3703320"/>
          </a:xfrm>
          <a:prstGeom prst="roundRect">
            <a:avLst>
              <a:gd name="adj" fmla="val 2469"/>
            </a:avLst>
          </a:prstGeom>
          <a:solidFill>
            <a:srgbClr val="13232F"/>
          </a:solidFill>
          <a:ln/>
          <a:effectLst>
            <a:outerShdw sx="100000" sy="100000" kx="0" ky="0" algn="bl" rotWithShape="0" blurRad="228600" dist="25400" dir="5400000">
              <a:srgbClr val="13232F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196328" y="2606040"/>
            <a:ext cx="658368" cy="65836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770632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96328" y="3438144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nào phải báo ngay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7196328" y="384048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bạn hoặc người sống cùng có triệu chứng dưới đây,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báo cho người phụ trách trước khi bắt đầu.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196328" y="4526280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1333F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196328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chảy · đau bụng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9208008" y="4526280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1333F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208008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Sốt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7196328" y="5093208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1333F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196328" y="5093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Nôn ói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9208008" y="5093208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1333F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9208008" y="5093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Vết thương mưng mủ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7196328" y="559612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Sẽ được loại khỏi công việc vệ sinh hôm đó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4008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vệ sinh · Vệ sinh cuối tuần — nhà máy mì ăn liền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HÔM NAY 03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 khi làm vệ sinh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Nhớ theo 4 trục: hóa chất · thứ tự · dụng cụ · an toàn.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32888"/>
            <a:ext cx="530352" cy="53035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665476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72768" y="2551176"/>
            <a:ext cx="22350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đúng hóa chất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191256"/>
            <a:ext cx="2875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Đúng loại, đúng nồng độ quy định.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Cấm tự ý thay hoặc thêm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3938" y="224028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6546" y="2532888"/>
            <a:ext cx="530352" cy="530352"/>
          </a:xfrm>
          <a:prstGeom prst="ellipse">
            <a:avLst/>
          </a:prstGeom>
          <a:solidFill>
            <a:srgbClr val="BF3A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134" y="2665476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16626" y="2551176"/>
            <a:ext cx="22350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được pha trộn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76546" y="3191256"/>
            <a:ext cx="2875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Chlorine + axit = sinh khí độc.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lần chỉ dùng một loại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224028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20405" y="2532888"/>
            <a:ext cx="530352" cy="53035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993" y="2665476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60485" y="2551176"/>
            <a:ext cx="22350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Cấm ăn uống · hút thuốc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420405" y="3191256"/>
            <a:ext cx="2875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Gồm cả kẹo cao su, kẹo, nước uống.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được dùng ở nơi quy định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2688" y="4498848"/>
            <a:ext cx="530352" cy="530352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4631436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72768" y="4517136"/>
            <a:ext cx="22350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đúng thứ tự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32688" y="5157216"/>
            <a:ext cx="2875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→ dưới, sạch → bẩn,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rãnh thoát nước làm sau cùng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83938" y="420624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76546" y="4498848"/>
            <a:ext cx="530352" cy="530352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134" y="4631436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16626" y="4517136"/>
            <a:ext cx="22350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Dụng cụ đúng khu vực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4676546" y="5157216"/>
            <a:ext cx="2875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Dụng cụ của rãnh thoát nước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dùng cho thiết bị, sàn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206240"/>
            <a:ext cx="3423818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20405" y="4498848"/>
            <a:ext cx="530352" cy="530352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2993" y="4631436"/>
            <a:ext cx="265176" cy="26517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60485" y="4517136"/>
            <a:ext cx="22350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Ngắt điện · nhiệt cao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8420405" y="5157216"/>
            <a:ext cx="2875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Ngắt điện trước khi vệ sinh thiết bị.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chảo chiên, nồi hấp nguội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vệ sinh · Vệ sinh cuối tuần — nhà máy mì ăn liền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663440"/>
            <a:ext cx="4023360" cy="4023360"/>
          </a:xfrm>
          <a:prstGeom prst="ellipse">
            <a:avLst/>
          </a:prstGeom>
          <a:solidFill>
            <a:srgbClr val="1A2B36"/>
          </a:solidFill>
          <a:ln/>
        </p:spPr>
      </p:sp>
      <p:sp>
        <p:nvSpPr>
          <p:cNvPr id="3" name="Shape 1"/>
          <p:cNvSpPr/>
          <p:nvPr/>
        </p:nvSpPr>
        <p:spPr>
          <a:xfrm>
            <a:off x="-868680" y="5349240"/>
            <a:ext cx="2651760" cy="2651760"/>
          </a:xfrm>
          <a:prstGeom prst="ellipse">
            <a:avLst/>
          </a:prstGeom>
          <a:solidFill>
            <a:srgbClr val="223440"/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" y="5943600"/>
            <a:ext cx="1463040" cy="1463040"/>
          </a:xfrm>
          <a:prstGeom prst="ellipse">
            <a:avLst/>
          </a:prstGeom>
          <a:solidFill>
            <a:srgbClr val="2B3F4D"/>
          </a:solidFill>
          <a:ln/>
        </p:spPr>
      </p:sp>
      <p:sp>
        <p:nvSpPr>
          <p:cNvPr id="5" name="Shape 3"/>
          <p:cNvSpPr/>
          <p:nvPr/>
        </p:nvSpPr>
        <p:spPr>
          <a:xfrm>
            <a:off x="5684368" y="960120"/>
            <a:ext cx="822960" cy="822960"/>
          </a:xfrm>
          <a:prstGeom prst="ellipse">
            <a:avLst/>
          </a:prstGeom>
          <a:solidFill>
            <a:srgbClr val="2133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0108" y="11658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78308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TINH THẦN HÔM NAY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mì chúng ta làm ra,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hãy nghĩ như chính gia đình mình sẽ ăn.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572768" y="4251960"/>
            <a:ext cx="2743200" cy="749808"/>
          </a:xfrm>
          <a:prstGeom prst="roundRect">
            <a:avLst>
              <a:gd name="adj" fmla="val 60976"/>
            </a:avLst>
          </a:prstGeom>
          <a:solidFill>
            <a:srgbClr val="2133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72768" y="4251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 thật sạch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36008" y="4251960"/>
            <a:ext cx="2743200" cy="749808"/>
          </a:xfrm>
          <a:prstGeom prst="roundRect">
            <a:avLst>
              <a:gd name="adj" fmla="val 60976"/>
            </a:avLst>
          </a:prstGeom>
          <a:solidFill>
            <a:srgbClr val="2133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36008" y="4251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Tóc gọn gàng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99248" y="4251960"/>
            <a:ext cx="2743200" cy="749808"/>
          </a:xfrm>
          <a:prstGeom prst="roundRect">
            <a:avLst>
              <a:gd name="adj" fmla="val 60976"/>
            </a:avLst>
          </a:prstGeom>
          <a:solidFill>
            <a:srgbClr val="2133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99248" y="4251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 vật = 0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44068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khu vực phụ trách → kiểm tra dụng cụ → bắt đầu · Xong việc tập trung tại đây để kiểm tra lần cuối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RỬA TAY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bước rửa tay · 30 giây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bước 5 giây. Chỗ hay bỏ sót là đầu móng tay và cổ tay.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666189" cy="224028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9983" y="2487168"/>
            <a:ext cx="786384" cy="7863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9983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3383280"/>
            <a:ext cx="155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Lòng bàn tay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694176"/>
            <a:ext cx="15564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Xoa hai lòng bàn tay vào nhau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9149" y="2240280"/>
            <a:ext cx="1666189" cy="224028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9052" y="2487168"/>
            <a:ext cx="786384" cy="7863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29052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544013" y="3383280"/>
            <a:ext cx="155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 bàn tay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544013" y="3694176"/>
            <a:ext cx="15564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Chà mu bàn tay và kẽ ngón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38218" y="2240280"/>
            <a:ext cx="1666189" cy="224028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8121" y="2487168"/>
            <a:ext cx="786384" cy="7863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78121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393082" y="3383280"/>
            <a:ext cx="155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Kẽ ngón tay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393082" y="3694176"/>
            <a:ext cx="15564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 các ngón tay rồi xoa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87288" y="2240280"/>
            <a:ext cx="1666189" cy="224028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7190" y="2487168"/>
            <a:ext cx="786384" cy="786384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7190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242152" y="3383280"/>
            <a:ext cx="155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Ngón cái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42152" y="3694176"/>
            <a:ext cx="15564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Xoay ngón cái trong lòng bàn tay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36357" y="2240280"/>
            <a:ext cx="1666189" cy="224028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76259" y="2487168"/>
            <a:ext cx="786384" cy="786384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76259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8091221" y="3383280"/>
            <a:ext cx="155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Móng · đầu ngón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091221" y="3694176"/>
            <a:ext cx="15564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Cọ đầu ngón vào lòng bàn tay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85426" y="2240280"/>
            <a:ext cx="1666189" cy="2240280"/>
          </a:xfrm>
          <a:prstGeom prst="roundRect">
            <a:avLst>
              <a:gd name="adj" fmla="val 548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325329" y="2487168"/>
            <a:ext cx="786384" cy="786384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325329" y="248716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9940290" y="3383280"/>
            <a:ext cx="155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 tay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940290" y="3694176"/>
            <a:ext cx="15564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Đừng quên cổ tay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4617720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13232F"/>
          </a:solidFill>
          <a:ln/>
          <a:effectLst>
            <a:outerShdw sx="100000" sy="100000" kx="0" ky="0" algn="bl" rotWithShape="0" blurRad="228600" dist="25400" dir="5400000">
              <a:srgbClr val="13232F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05840" y="4983480"/>
            <a:ext cx="603504" cy="60350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5134356"/>
            <a:ext cx="301752" cy="301752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792224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30 giây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792224" y="5285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bọt xà phòng khi rửa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526280" y="4983480"/>
            <a:ext cx="603504" cy="60350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5134356"/>
            <a:ext cx="301752" cy="301752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5312664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 khô hoàn toàn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5312664" y="5285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 ướt làm vi khuẩn lây nhanh hơn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8046720" y="4983480"/>
            <a:ext cx="603504" cy="60350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5134356"/>
            <a:ext cx="301752" cy="301752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8833104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Đeo găng lên tay sạch</a:t>
            </a:r>
            <a:endParaRPr lang="en-US" sz="1400" dirty="0"/>
          </a:p>
        </p:txBody>
      </p:sp>
      <p:sp>
        <p:nvSpPr>
          <p:cNvPr id="48" name="Text 43"/>
          <p:cNvSpPr txBox="1"/>
          <p:nvPr/>
        </p:nvSpPr>
        <p:spPr>
          <a:xfrm>
            <a:off x="8833104" y="5285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Găng rách phải thay ngay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64008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vệ sinh · Vệ sinh cuối tuần — nhà máy mì ăn liền</a:t>
            </a:r>
            <a:endParaRPr lang="en-US" sz="950" dirty="0"/>
          </a:p>
        </p:txBody>
      </p:sp>
      <p:sp>
        <p:nvSpPr>
          <p:cNvPr id="50" name="Text 45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HÓA CHẤT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toàn hóa chất tẩy rửa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Trộn hóa chất khác công dụng sẽ sinh khí độc. Mỗi lần chỉ dùng một loại.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496312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61872" y="235000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kiềm</a:t>
            </a:r>
            <a:pPr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Tẩy dầu mỡ (khu chảo chiên)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ứng da — bắt buộc đeo găng cao su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9536" y="3456432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61872" y="331012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axit</a:t>
            </a:r>
            <a:pPr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Tẩy cặn nước, cặn vôi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36393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Ăn mòn kim loại — không để lâu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416552"/>
            <a:ext cx="310896" cy="310896"/>
          </a:xfrm>
          <a:prstGeom prst="ellipse">
            <a:avLst/>
          </a:prstGeom>
          <a:solidFill>
            <a:srgbClr val="BF3A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61872" y="427024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Khử trùng gốc chlorine</a:t>
            </a:r>
            <a:pPr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Khử trùng dụng cụ, bề mặt (pha loãng)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45994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Tuyệt đối không trộn với chất axit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5376672"/>
            <a:ext cx="310896" cy="310896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61872" y="523036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Cồn 70%</a:t>
            </a:r>
            <a:pPr indent="0" marL="0">
              <a:buNone/>
            </a:pPr>
            <a:r>
              <a:rPr lang="en-US" sz="11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Khử trùng tay, dụng cụ nhỏ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55595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dùng gần nguồn lửa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2240280"/>
            <a:ext cx="4736592" cy="2240280"/>
          </a:xfrm>
          <a:prstGeom prst="roundRect">
            <a:avLst>
              <a:gd name="adj" fmla="val 4082"/>
            </a:avLst>
          </a:prstGeom>
          <a:solidFill>
            <a:srgbClr val="BF3A20"/>
          </a:solidFill>
          <a:ln/>
          <a:effectLst>
            <a:outerShdw sx="100000" sy="100000" kx="0" ky="0" algn="bl" rotWithShape="0" blurRad="228600" dist="25400" dir="5400000">
              <a:srgbClr val="13232F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96328" y="25146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7204" y="2665476"/>
            <a:ext cx="301752" cy="30175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909560" y="2514600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Tuyệt đối không pha trộn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196328" y="3291840"/>
            <a:ext cx="3968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Chlorine + chất axit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sinh khí clo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Chlorine + gốc amoniac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sinh khí độc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E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pha trong bình quy định, đúng nồng độ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812280" y="4663440"/>
            <a:ext cx="4736592" cy="1325880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1323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hộ bắt buộc khi vệ sinh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242048" y="5175504"/>
            <a:ext cx="457200" cy="45720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348" y="5289804"/>
            <a:ext cx="228600" cy="2286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022592" y="56692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Kính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321040" y="5175504"/>
            <a:ext cx="457200" cy="45720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5289804"/>
            <a:ext cx="228600" cy="2286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101584" y="56692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Găng tay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9400032" y="5175504"/>
            <a:ext cx="457200" cy="45720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332" y="5289804"/>
            <a:ext cx="228600" cy="2286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180576" y="56692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Ủng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479024" y="5175504"/>
            <a:ext cx="457200" cy="45720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3324" y="5289804"/>
            <a:ext cx="228600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259568" y="56692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Khẩu trang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64008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vệ sinh · Vệ sinh cuối tuần — nhà máy mì ăn liền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THỨ TỰ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bước vệ sinh theo thứ tự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thứ tự sẽ làm bẩn lại nơi vừa lau xong.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3818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432304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694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487168"/>
            <a:ext cx="22350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bị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50976" y="3200400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50976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481328" y="3127248"/>
            <a:ext cx="2344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Ngắt điện · khóa nguồn (LOTO)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50976" y="3895344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50976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481328" y="3822192"/>
            <a:ext cx="2344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Đưa sản phẩm, bao bì ra ngoài hoặc che phủ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50976" y="4590288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0976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481328" y="4517136"/>
            <a:ext cx="2344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Dọn khô — hút bụi · quét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83938" y="2194560"/>
            <a:ext cx="3423818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76546" y="2432304"/>
            <a:ext cx="548640" cy="548640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06" y="2569464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344058" y="2487168"/>
            <a:ext cx="22350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Rửa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4694834" y="3200400"/>
            <a:ext cx="384048" cy="384048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694834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225186" y="3127248"/>
            <a:ext cx="2344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Rửa sơ bộ (áp lực thấp, tránh bắn nước)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94834" y="3895344"/>
            <a:ext cx="384048" cy="384048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694834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225186" y="3822192"/>
            <a:ext cx="2344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Bôi hóa chất + giữ đủ thời gian tác dụng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694834" y="4590288"/>
            <a:ext cx="384048" cy="384048"/>
          </a:xfrm>
          <a:prstGeom prst="ellipse">
            <a:avLst/>
          </a:prstGeom>
          <a:solidFill>
            <a:srgbClr val="13232F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4834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225186" y="4517136"/>
            <a:ext cx="2344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Chà rửa — đến cả góc và khe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127797" y="2194560"/>
            <a:ext cx="3423818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420405" y="243230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565" y="2569464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9087917" y="2487168"/>
            <a:ext cx="22350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</a:t>
            </a:r>
            <a:endParaRPr lang="en-US" sz="1900" dirty="0"/>
          </a:p>
        </p:txBody>
      </p:sp>
      <p:sp>
        <p:nvSpPr>
          <p:cNvPr id="36" name="Shape 31"/>
          <p:cNvSpPr/>
          <p:nvPr/>
        </p:nvSpPr>
        <p:spPr>
          <a:xfrm>
            <a:off x="8438693" y="320040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438693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8969045" y="3127248"/>
            <a:ext cx="2344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Xả sạch · gạt hết nước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8438693" y="389534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8438693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8969045" y="3822192"/>
            <a:ext cx="2344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Khử trùng rồi làm khô hoàn toàn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8438693" y="459028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438693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8969045" y="4517136"/>
            <a:ext cx="2344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dị vật · độ nhạy máy dò kim loại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640080" y="5532120"/>
            <a:ext cx="3423818" cy="548640"/>
          </a:xfrm>
          <a:prstGeom prst="roundRect">
            <a:avLst>
              <a:gd name="adj" fmla="val 83333"/>
            </a:avLst>
          </a:prstGeom>
          <a:solidFill>
            <a:srgbClr val="13232F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640080" y="5532120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→ dưới</a:t>
            </a:r>
            <a:endParaRPr lang="en-US" sz="1350" dirty="0"/>
          </a:p>
        </p:txBody>
      </p:sp>
      <p:sp>
        <p:nvSpPr>
          <p:cNvPr id="47" name="Shape 42"/>
          <p:cNvSpPr/>
          <p:nvPr/>
        </p:nvSpPr>
        <p:spPr>
          <a:xfrm>
            <a:off x="4383938" y="5532120"/>
            <a:ext cx="3423818" cy="548640"/>
          </a:xfrm>
          <a:prstGeom prst="roundRect">
            <a:avLst>
              <a:gd name="adj" fmla="val 83333"/>
            </a:avLst>
          </a:prstGeom>
          <a:solidFill>
            <a:srgbClr val="13232F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4383938" y="5532120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sạch → khu bẩn</a:t>
            </a:r>
            <a:endParaRPr lang="en-US" sz="1350" dirty="0"/>
          </a:p>
        </p:txBody>
      </p:sp>
      <p:sp>
        <p:nvSpPr>
          <p:cNvPr id="49" name="Shape 44"/>
          <p:cNvSpPr/>
          <p:nvPr/>
        </p:nvSpPr>
        <p:spPr>
          <a:xfrm>
            <a:off x="8127797" y="5532120"/>
            <a:ext cx="3423818" cy="548640"/>
          </a:xfrm>
          <a:prstGeom prst="roundRect">
            <a:avLst>
              <a:gd name="adj" fmla="val 83333"/>
            </a:avLst>
          </a:prstGeom>
          <a:solidFill>
            <a:srgbClr val="BF3A20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8127797" y="5532120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Rãnh thoát nước sau cùng</a:t>
            </a:r>
            <a:endParaRPr lang="en-US" sz="1350" dirty="0"/>
          </a:p>
        </p:txBody>
      </p:sp>
      <p:sp>
        <p:nvSpPr>
          <p:cNvPr id="51" name="Text 46"/>
          <p:cNvSpPr txBox="1"/>
          <p:nvPr/>
        </p:nvSpPr>
        <p:spPr>
          <a:xfrm>
            <a:off x="64008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vệ sinh · Vệ sinh cuối tuần — nhà máy mì ăn liền</a:t>
            </a:r>
            <a:endParaRPr lang="en-US" sz="950" dirty="0"/>
          </a:p>
        </p:txBody>
      </p:sp>
      <p:sp>
        <p:nvSpPr>
          <p:cNvPr id="52" name="Text 47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29184"/>
          </a:xfrm>
          <a:prstGeom prst="roundRect">
            <a:avLst>
              <a:gd name="adj" fmla="val 138889"/>
            </a:avLst>
          </a:prstGeom>
          <a:solidFill>
            <a:srgbClr val="132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CÔNG ĐOẠN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nguy hiểm khi vệ sinh theo công đoạn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cùng lúc với phân công khu vực — mỗi khu có nguy hiểm khác nhau.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459736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5786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77824" y="3008376"/>
            <a:ext cx="2135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Trộn bột · phễu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3282696"/>
            <a:ext cx="213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Bụi bột · bột bám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538728"/>
            <a:ext cx="21358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Cấm xịt súng hơi, ưu tiên hút bụi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25114" y="224028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62858" y="2459736"/>
            <a:ext cx="475488" cy="47548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730" y="257860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62858" y="3008376"/>
            <a:ext cx="2135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Cán bột · cắt sợi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662858" y="3282696"/>
            <a:ext cx="213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Kẹt tay · máy chạy bất ngờ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662858" y="3538728"/>
            <a:ext cx="21358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Ngắt điện, khóa nguồn rồi mới làm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0148" y="224028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47892" y="2459736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64" y="257860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7892" y="3008376"/>
            <a:ext cx="2135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Nồi hấp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447892" y="3282696"/>
            <a:ext cx="213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Nước ngưng tụ → nấm mốc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6447892" y="3538728"/>
            <a:ext cx="21358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Xả áp, lau khô hoàn toàn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995181" y="224028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32925" y="2459736"/>
            <a:ext cx="475488" cy="47548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797" y="257860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32925" y="3008376"/>
            <a:ext cx="2135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Chảo chiên · chụp hút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9232925" y="3282696"/>
            <a:ext cx="213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Dầu thừa · cháy · bỏng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9232925" y="3538728"/>
            <a:ext cx="21358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nguội, làm sạch dầu ống hút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40080" y="420624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77824" y="4425696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4456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77824" y="4974336"/>
            <a:ext cx="2135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Băng tải làm nguội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877824" y="5248656"/>
            <a:ext cx="213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Đọng sương · dị vật rơi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877824" y="5504688"/>
            <a:ext cx="21358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Vệ sinh kết cấu phía trên trước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425114" y="420624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662858" y="4425696"/>
            <a:ext cx="475488" cy="47548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730" y="4544568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662858" y="4974336"/>
            <a:ext cx="2135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rót gói gia vị</a:t>
            </a:r>
            <a:endParaRPr lang="en-US" sz="1250" dirty="0"/>
          </a:p>
        </p:txBody>
      </p:sp>
      <p:sp>
        <p:nvSpPr>
          <p:cNvPr id="40" name="Text 32"/>
          <p:cNvSpPr txBox="1"/>
          <p:nvPr/>
        </p:nvSpPr>
        <p:spPr>
          <a:xfrm>
            <a:off x="3662858" y="5248656"/>
            <a:ext cx="213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Nhiễm chéo chất gây dị ứng</a:t>
            </a:r>
            <a:endParaRPr lang="en-US" sz="1050" dirty="0"/>
          </a:p>
        </p:txBody>
      </p:sp>
      <p:sp>
        <p:nvSpPr>
          <p:cNvPr id="41" name="Text 33"/>
          <p:cNvSpPr txBox="1"/>
          <p:nvPr/>
        </p:nvSpPr>
        <p:spPr>
          <a:xfrm>
            <a:off x="3662858" y="5504688"/>
            <a:ext cx="21358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Dọn khô bằng dụng cụ riêng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210148" y="420624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447892" y="4425696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6764" y="4544568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447892" y="4974336"/>
            <a:ext cx="2135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gói · ép mí</a:t>
            </a:r>
            <a:endParaRPr lang="en-US" sz="1250" dirty="0"/>
          </a:p>
        </p:txBody>
      </p:sp>
      <p:sp>
        <p:nvSpPr>
          <p:cNvPr id="46" name="Text 37"/>
          <p:cNvSpPr txBox="1"/>
          <p:nvPr/>
        </p:nvSpPr>
        <p:spPr>
          <a:xfrm>
            <a:off x="6447892" y="5248656"/>
            <a:ext cx="213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Mảnh màng · mảnh nhãn</a:t>
            </a:r>
            <a:endParaRPr lang="en-US" sz="1050" dirty="0"/>
          </a:p>
        </p:txBody>
      </p:sp>
      <p:sp>
        <p:nvSpPr>
          <p:cNvPr id="47" name="Text 38"/>
          <p:cNvSpPr txBox="1"/>
          <p:nvPr/>
        </p:nvSpPr>
        <p:spPr>
          <a:xfrm>
            <a:off x="6447892" y="5504688"/>
            <a:ext cx="21358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gom hết mảnh rồi đưa ra ngoài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8995181" y="4206240"/>
            <a:ext cx="2556434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9525">
            <a:solidFill>
              <a:srgbClr val="D9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13232F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9232925" y="4425696"/>
            <a:ext cx="475488" cy="475488"/>
          </a:xfrm>
          <a:prstGeom prst="ellipse">
            <a:avLst/>
          </a:prstGeom>
          <a:solidFill>
            <a:srgbClr val="13232F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1797" y="4544568"/>
            <a:ext cx="237744" cy="23774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9232925" y="4974336"/>
            <a:ext cx="2135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· rãnh thoát nước</a:t>
            </a:r>
            <a:endParaRPr lang="en-US" sz="1250" dirty="0"/>
          </a:p>
        </p:txBody>
      </p:sp>
      <p:sp>
        <p:nvSpPr>
          <p:cNvPr id="52" name="Text 42"/>
          <p:cNvSpPr txBox="1"/>
          <p:nvPr/>
        </p:nvSpPr>
        <p:spPr>
          <a:xfrm>
            <a:off x="9232925" y="5248656"/>
            <a:ext cx="2135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Cặn dầu mỡ · côn trùng</a:t>
            </a:r>
            <a:endParaRPr lang="en-US" sz="1050" dirty="0"/>
          </a:p>
        </p:txBody>
      </p:sp>
      <p:sp>
        <p:nvSpPr>
          <p:cNvPr id="53" name="Text 43"/>
          <p:cNvSpPr txBox="1"/>
          <p:nvPr/>
        </p:nvSpPr>
        <p:spPr>
          <a:xfrm>
            <a:off x="9232925" y="5504688"/>
            <a:ext cx="21358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sau cùng, dùng dụng cụ riêng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64008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vệ sinh · Vệ sinh cuối tuần — nhà máy mì ăn liền</a:t>
            </a:r>
            <a:endParaRPr lang="en-US" sz="950" dirty="0"/>
          </a:p>
        </p:txBody>
      </p:sp>
      <p:sp>
        <p:nvSpPr>
          <p:cNvPr id="55" name="Text 45"/>
          <p:cNvSpPr txBox="1"/>
          <p:nvPr/>
        </p:nvSpPr>
        <p:spPr>
          <a:xfrm>
            <a:off x="1063721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6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Huấn luyện vệ sinh trước khi làm vệ sinh</dc:title>
  <dc:subject>PptxGenJS Presentation</dc:subject>
  <dc:creator>Bộ phận Quản lý vệ sinh</dc:creator>
  <cp:lastModifiedBy>Bộ phận Quản lý vệ sinh</cp:lastModifiedBy>
  <cp:revision>1</cp:revision>
  <dcterms:created xsi:type="dcterms:W3CDTF">2026-09-18T06:53:10Z</dcterms:created>
  <dcterms:modified xsi:type="dcterms:W3CDTF">2026-09-18T06:53:10Z</dcterms:modified>
</cp:coreProperties>
</file>